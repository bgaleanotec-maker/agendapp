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BCD3FF"/>
                </a:solidFill>
              </a:rPr>
              <a:t>CORPORACIÓN UNIVERSITARIA IBEROAMERICANA · INGENIERÍA DE SOFTWARE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del Plan de Pruebas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CE8FF"/>
                </a:solidFill>
              </a:rPr>
              <a:t>AgendApp — Sistema web de agendamiento de citas médicas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Elsa Sequeda Pacheco   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Cristian Stiven Guerrero Andrade   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Brayan Galeano Tobón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0FF"/>
                </a:solidFill>
              </a:rPr>
              <a:t>Docente: Rogelio Vásquez  ·  Pruebas de Software y Aplicabilidad  ·  Junio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proyecto: AgendApp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Elsa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A"/>
                </a:solidFill>
              </a:rPr>
              <a:t>Plataforma web para que consultorios y médicos independientes gestionen sus citas.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5760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3A"/>
                </a:solidFill>
              </a:rPr>
              <a:t>El paciente agenda, cancela y recibe recordatorios.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3A"/>
                </a:solidFill>
              </a:rPr>
              <a:t>Pre-triaje de síntomas con un motor de reglas.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3A"/>
                </a:solidFill>
              </a:rPr>
              <a:t>El médico administra su agenda; el administrador supervisa.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F1F5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029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43F"/>
                </a:solidFill>
              </a:rPr>
              <a:t>Flask · SQLAlchemy · PostgreSQL · desplegado en Render</a:t>
            </a:r>
            <a:endParaRPr lang="en-US" sz="1500" dirty="0"/>
          </a:p>
        </p:txBody>
      </p:sp>
      <p:pic>
        <p:nvPicPr>
          <p:cNvPr id="9" name="Image 0" descr="01_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091461"/>
            <a:ext cx="5029200" cy="3223717"/>
          </a:xfrm>
          <a:prstGeom prst="rect">
            <a:avLst/>
          </a:prstGeom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pic>
      <p:sp>
        <p:nvSpPr>
          <p:cNvPr id="10" name="Text 7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y procesos críticos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Elsa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</a:rPr>
              <a:t>¿Qué buscamos validar?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A"/>
                </a:solidFill>
              </a:rPr>
              <a:t>Que el sistema cumpla los requerimientos y responda a las necesidades reales del consultorio.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</a:rPr>
              <a:t>Lo que más nos preocupa probar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3152" cy="4572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3017520"/>
            <a:ext cx="5687568" cy="457200"/>
          </a:xfrm>
          <a:prstGeom prst="rect">
            <a:avLst/>
          </a:prstGeom>
          <a:solidFill>
            <a:srgbClr val="F1F5F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17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</a:rPr>
              <a:t>Autenticación y control de acceso  ·  </a:t>
            </a:r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</a:rPr>
              <a:t>Crítica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584448"/>
            <a:ext cx="73152" cy="4572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3584448"/>
            <a:ext cx="5687568" cy="457200"/>
          </a:xfrm>
          <a:prstGeom prst="rect">
            <a:avLst/>
          </a:prstGeom>
          <a:solidFill>
            <a:srgbClr val="F1F5F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8444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</a:rPr>
              <a:t>Agendamiento y disponibilidad  ·  </a:t>
            </a:r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</a:rPr>
              <a:t>Crítica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51376"/>
            <a:ext cx="73152" cy="457200"/>
          </a:xfrm>
          <a:prstGeom prst="rect">
            <a:avLst/>
          </a:prstGeom>
          <a:solidFill>
            <a:srgbClr val="E0A8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4151376"/>
            <a:ext cx="5687568" cy="457200"/>
          </a:xfrm>
          <a:prstGeom prst="rect">
            <a:avLst/>
          </a:prstGeom>
          <a:solidFill>
            <a:srgbClr val="F1F5F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5137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</a:rPr>
              <a:t>Regla de cancelación (24 h)  ·  </a:t>
            </a:r>
            <a:pPr indent="0" marL="0">
              <a:buNone/>
            </a:pPr>
            <a:r>
              <a:rPr lang="en-US" sz="1400" b="1" dirty="0">
                <a:solidFill>
                  <a:srgbClr val="E0A800"/>
                </a:solidFill>
              </a:rPr>
              <a:t>Alta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718304"/>
            <a:ext cx="73152" cy="457200"/>
          </a:xfrm>
          <a:prstGeom prst="rect">
            <a:avLst/>
          </a:prstGeom>
          <a:solidFill>
            <a:srgbClr val="E0A80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718304"/>
            <a:ext cx="5687568" cy="457200"/>
          </a:xfrm>
          <a:prstGeom prst="rect">
            <a:avLst/>
          </a:prstGeom>
          <a:solidFill>
            <a:srgbClr val="F1F5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71830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</a:rPr>
              <a:t>Motor de pre-triaje  ·  </a:t>
            </a:r>
            <a:pPr indent="0" marL="0">
              <a:buNone/>
            </a:pPr>
            <a:r>
              <a:rPr lang="en-US" sz="1400" b="1" dirty="0">
                <a:solidFill>
                  <a:srgbClr val="E0A800"/>
                </a:solidFill>
              </a:rPr>
              <a:t>Alta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66560" y="2103120"/>
            <a:ext cx="91440" cy="2194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210312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“Probar no es la última etapa: es un proceso que acompaña todo el desarrollo.”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40880" y="4114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890"/>
                </a:solidFill>
              </a:rPr>
              <a:t>Enfoque basado en riesgos — SWEBOK (Bourque &amp; Fairley, 2014).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de pruebas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Cristian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8745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745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V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3F"/>
                </a:solidFill>
              </a:rPr>
              <a:t>Modelo V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</a:rPr>
              <a:t>Empareja cada fase de diseño con su prueba: verificación (construir bien) y validación (construir lo correcto).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155448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8745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8745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◎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17720" y="278892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3F"/>
                </a:solidFill>
              </a:rPr>
              <a:t>Basada en riesgos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329184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</a:rPr>
              <a:t>Más casos y técnicas de caja negra y blanca en los componentes críticos.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18745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18745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↻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12480" y="278892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3F"/>
                </a:solidFill>
              </a:rPr>
              <a:t>Automatizada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12480" y="329184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A"/>
                </a:solidFill>
              </a:rPr>
              <a:t>pytest permite repetir toda la suite: red de seguridad para la regresión.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1F5FC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43F"/>
                </a:solidFill>
              </a:rPr>
              <a:t>Independencia de la prueba: separamos quién implementa de quién prueba, y dejamos al docente como validador externo (Bourque &amp; Fairley, 2014).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Metodología y técnicas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Cristian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</a:rPr>
              <a:t>Modelo V articulado con Scrum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Desarrollo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Nivel de prueba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Requerimientos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Aceptación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Arquitectura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Sistema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Diseño detallado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Integración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Codificación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A"/>
                          </a:solidFill>
                        </a:rPr>
                        <a:t>Unitaria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14173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</a:rPr>
              <a:t>Técnicas de diseño de casos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400800" y="18745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E5496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0" y="18745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Caja negra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2331720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Partición de equivalencia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Valores límite (regla de 24 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Tabla de decisión (pre-triaje)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Transición de estados (cita)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0" y="40233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0" y="4023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Caja blanca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448056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Cobertura de decisión / ramas en los decoradores de control de acceso.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Tipos de prueba y criterios de aceptación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Brayan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</a:rPr>
              <a:t>Niveles aplicados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5669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Unitarias — motor de pre-triaje aislado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Integración — rutas + ORM + base de datos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Sistema — suite completa y rendimiento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Aceptación — escenarios de usuario en producción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Regresión — toda la suite tras cada cambio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92240" y="1417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</a:rPr>
              <a:t>Criterio global de aceptación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92240" y="1874520"/>
            <a:ext cx="82296" cy="594360"/>
          </a:xfrm>
          <a:prstGeom prst="rect">
            <a:avLst/>
          </a:prstGeom>
          <a:solidFill>
            <a:srgbClr val="19C3A3"/>
          </a:solidFill>
          <a:ln/>
        </p:spPr>
      </p:sp>
      <p:sp>
        <p:nvSpPr>
          <p:cNvPr id="9" name="Shape 7"/>
          <p:cNvSpPr/>
          <p:nvPr/>
        </p:nvSpPr>
        <p:spPr>
          <a:xfrm>
            <a:off x="6574536" y="1874520"/>
            <a:ext cx="5029200" cy="594360"/>
          </a:xfrm>
          <a:prstGeom prst="rect">
            <a:avLst/>
          </a:prstGeom>
          <a:solidFill>
            <a:srgbClr val="E6F7F1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187452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4B3C"/>
                </a:solidFill>
              </a:rPr>
              <a:t>100% de los casos críticos y altos en verde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2651760"/>
            <a:ext cx="82296" cy="594360"/>
          </a:xfrm>
          <a:prstGeom prst="rect">
            <a:avLst/>
          </a:prstGeom>
          <a:solidFill>
            <a:srgbClr val="19C3A3"/>
          </a:solidFill>
          <a:ln/>
        </p:spPr>
      </p:sp>
      <p:sp>
        <p:nvSpPr>
          <p:cNvPr id="12" name="Shape 10"/>
          <p:cNvSpPr/>
          <p:nvPr/>
        </p:nvSpPr>
        <p:spPr>
          <a:xfrm>
            <a:off x="6574536" y="2651760"/>
            <a:ext cx="5029200" cy="594360"/>
          </a:xfrm>
          <a:prstGeom prst="rect">
            <a:avLst/>
          </a:prstGeom>
          <a:solidFill>
            <a:srgbClr val="E6F7F1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6517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4B3C"/>
                </a:solidFill>
              </a:rPr>
              <a:t>0 defectos críticos abiertos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92240" y="3429000"/>
            <a:ext cx="82296" cy="594360"/>
          </a:xfrm>
          <a:prstGeom prst="rect">
            <a:avLst/>
          </a:prstGeom>
          <a:solidFill>
            <a:srgbClr val="19C3A3"/>
          </a:solidFill>
          <a:ln/>
        </p:spPr>
      </p:sp>
      <p:sp>
        <p:nvSpPr>
          <p:cNvPr id="15" name="Shape 13"/>
          <p:cNvSpPr/>
          <p:nvPr/>
        </p:nvSpPr>
        <p:spPr>
          <a:xfrm>
            <a:off x="6574536" y="3429000"/>
            <a:ext cx="5029200" cy="594360"/>
          </a:xfrm>
          <a:prstGeom prst="rect">
            <a:avLst/>
          </a:prstGeom>
          <a:solidFill>
            <a:srgbClr val="E6F7F1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342900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4B3C"/>
                </a:solidFill>
              </a:rPr>
              <a:t>Meta de cobertura 80% en funciones críticas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4297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890"/>
                </a:solidFill>
              </a:rPr>
              <a:t>El objetivo (la confianza) no es lo mismo que la métrica (% de cobertura).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de casos · ejemplo del motor de IA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Brayan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A"/>
                </a:solidFill>
              </a:rPr>
              <a:t>Diseñamos </a:t>
            </a:r>
            <a:pPr indent="0" marL="0">
              <a:buNone/>
            </a:pPr>
            <a:r>
              <a:rPr lang="en-US" sz="1700" b="1" dirty="0">
                <a:solidFill>
                  <a:srgbClr val="1F2A3A"/>
                </a:solidFill>
              </a:rPr>
              <a:t>31 casos</a:t>
            </a:r>
            <a:pPr indent="0" marL="0">
              <a:buNone/>
            </a:pPr>
            <a:r>
              <a:rPr lang="en-US" sz="1700" dirty="0">
                <a:solidFill>
                  <a:srgbClr val="1F2A3A"/>
                </a:solidFill>
              </a:rPr>
              <a:t> con técnicas explícitas. Ejemplo de </a:t>
            </a:r>
            <a:pPr indent="0" marL="0">
              <a:buNone/>
            </a:pPr>
            <a:r>
              <a:rPr lang="en-US" sz="1700" b="1" dirty="0">
                <a:solidFill>
                  <a:srgbClr val="1F2A3A"/>
                </a:solidFill>
              </a:rPr>
              <a:t>tabla de decisión</a:t>
            </a:r>
            <a:pPr indent="0" marL="0">
              <a:buNone/>
            </a:pPr>
            <a:r>
              <a:rPr lang="en-US" sz="1700" dirty="0">
                <a:solidFill>
                  <a:srgbClr val="1F2A3A"/>
                </a:solidFill>
              </a:rPr>
              <a:t>: cada nivel del pre-triaje tiene su caso.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Síntoma urgente → prioridad alta (rojo)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Consulta de rutina → prioridad baja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Texto vacío → nivel normal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8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CA-10 · test_prescreen_urgente · PASSED</a:t>
            </a:r>
            <a:endParaRPr lang="en-US" sz="1300" dirty="0"/>
          </a:p>
        </p:txBody>
      </p:sp>
      <p:pic>
        <p:nvPicPr>
          <p:cNvPr id="8" name="Image 0" descr="05_pretriaj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3428" y="1417320"/>
            <a:ext cx="5275385" cy="4663440"/>
          </a:xfrm>
          <a:prstGeom prst="rect">
            <a:avLst/>
          </a:prstGeom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pytest: alcance y conexión con la clase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Brayan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</a:rPr>
              <a:t>¿Qué es y hasta dónde llega?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</a:rPr>
              <a:t>Framework de pruebas de Python: ejecuta y reporta solo.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</a:rPr>
              <a:t>Alcance: una misma suite cubre los niveles unitario, integración y sistema.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</a:rPr>
              <a:t>Fixtures (conftest.py): entorno aislado y reproducible con BD en memoria.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A"/>
                </a:solidFill>
              </a:rPr>
              <a:t>Cobertura con pytest-cov; se corre en cada cambio.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0E1B33"/>
          </a:solidFill>
          <a:ln/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3794760"/>
            <a:ext cx="5486400" cy="20116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pPr indent="0" marL="0">
              <a:buNone/>
            </a:pPr>
            <a:r>
              <a:rPr lang="en-US" sz="1200" dirty="0">
                <a:solidFill>
                  <a:srgbClr val="D6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TestMotorIA:</a:t>
            </a:r>
            <a:pPr indent="0" marL="0">
              <a:buNone/>
            </a:pPr>
            <a:r>
              <a:rPr lang="en-US" sz="1200" b="1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</a:t>
            </a:r>
            <a:pPr indent="0" marL="0">
              <a:buNone/>
            </a:pPr>
            <a:r>
              <a:rPr lang="en-US" sz="1200" dirty="0">
                <a:solidFill>
                  <a:srgbClr val="D6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test_prescreen_urgente(self, client):</a:t>
            </a:r>
            <a:pPr indent="0" marL="0">
              <a:buNone/>
            </a:pPr>
            <a:r>
              <a:rPr lang="en-US" sz="1200" dirty="0">
                <a:solidFill>
                  <a:srgbClr val="9FE7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client.post("/api/ai/prescreen",</a:t>
            </a:r>
            <a:pPr indent="0" marL="0">
              <a:buNone/>
            </a:pPr>
            <a:r>
              <a:rPr lang="en-US" sz="1200" dirty="0">
                <a:solidFill>
                  <a:srgbClr val="9FE7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json={"text": "dolor pecho ..."})</a:t>
            </a:r>
            <a:pPr indent="0" marL="0">
              <a:buNone/>
            </a:pPr>
            <a:r>
              <a:rPr lang="en-US" sz="1200" b="1" dirty="0">
                <a:solidFill>
                  <a:srgbClr val="C79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</a:t>
            </a:r>
            <a:pPr indent="0" marL="0">
              <a:buNone/>
            </a:pPr>
            <a:r>
              <a:rPr lang="en-US" sz="1200" dirty="0">
                <a:solidFill>
                  <a:srgbClr val="D6E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r.get_json()["level"] == "urgente"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</a:rPr>
              <a:t>Cómo conecta con lo visto en clase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0" y="178308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Modelo V: un comando ejercita unitario → integración → sistema.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Automatización → regresión: red de seguridad ante cada cambio.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Entorno controlado y reproducible, condición de una prueba confiable (Singh, 2011).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Técnicas de diseño (partición, valores límite, decisión) en cada caso.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A"/>
                </a:solidFill>
              </a:rPr>
              <a:t>Verificación y validación llevadas a la práctica (SWEBOK).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Evidencia: pruebas que se ejecutan de verdad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Brayan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pPr indent="0" marL="0">
              <a:buNone/>
            </a:pPr>
            <a:r>
              <a:rPr lang="en-US" sz="3600" dirty="0">
                <a:solidFill>
                  <a:srgbClr val="6B78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31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A"/>
                </a:solidFill>
              </a:rPr>
              <a:t>pruebas superadas con pytest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15 de autenticación · 16 de citas, API y motor IA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Página pública de evidencias dentro de la app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A"/>
                </a:solidFill>
              </a:rPr>
              <a:t>github.com/bgaleanotec-maker/agendapp</a:t>
            </a:r>
            <a:endParaRPr lang="en-US" sz="1500" dirty="0"/>
          </a:p>
        </p:txBody>
      </p:sp>
      <p:pic>
        <p:nvPicPr>
          <p:cNvPr id="8" name="Image 0" descr="02_evidenc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5459" y="1417320"/>
            <a:ext cx="2862762" cy="4663440"/>
          </a:xfrm>
          <a:prstGeom prst="rect">
            <a:avLst/>
          </a:prstGeom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052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Modo demo para validación del docente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829800" y="4114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9C3A3"/>
          </a:solidFill>
          <a:ln/>
        </p:spPr>
      </p:sp>
      <p:sp>
        <p:nvSpPr>
          <p:cNvPr id="4" name="Text 2"/>
          <p:cNvSpPr/>
          <p:nvPr/>
        </p:nvSpPr>
        <p:spPr>
          <a:xfrm>
            <a:off x="982980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1F"/>
                </a:solidFill>
              </a:rPr>
              <a:t>Brayan / Todos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A"/>
                </a:solidFill>
              </a:rPr>
              <a:t>El docente puede validar las pruebas sin instalar nada.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6692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03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3F"/>
                </a:solidFill>
              </a:rPr>
              <a:t>Docente (admin)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21031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docente@agendapp.co · Demo2026!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6692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880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3F"/>
                </a:solidFill>
              </a:rPr>
              <a:t>Médico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2880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dr.garcia@agendapp.co · Doctor2024!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6692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3F"/>
                </a:solidFill>
              </a:rPr>
              <a:t>Paciente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36576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maria@test.co · Paciente2024!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617720"/>
            <a:ext cx="5669280" cy="548640"/>
          </a:xfrm>
          <a:prstGeom prst="roundRect">
            <a:avLst>
              <a:gd name="adj" fmla="val 13333"/>
            </a:avLst>
          </a:prstGeom>
          <a:solidFill>
            <a:srgbClr val="F1F5FC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6177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3F"/>
                </a:solidFill>
              </a:rPr>
              <a:t>agendapp-rde9.onrender.com/evidencias</a:t>
            </a:r>
            <a:endParaRPr lang="en-US" sz="1400" dirty="0"/>
          </a:p>
        </p:txBody>
      </p:sp>
      <p:pic>
        <p:nvPicPr>
          <p:cNvPr id="17" name="Image 0" descr="07_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966509"/>
            <a:ext cx="5212080" cy="3565063"/>
          </a:xfrm>
          <a:prstGeom prst="rect">
            <a:avLst/>
          </a:prstGeom>
          <a:effectLst>
            <a:outerShdw sx="100000" sy="100000" kx="0" ky="0" algn="bl" rotWithShape="0" blurRad="114300" dist="38100" dir="8100000">
              <a:srgbClr val="16243F">
                <a:alpha val="2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AgendApp · Plan de Pruebas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0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intuición a la justificación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463040" y="3108960"/>
            <a:ext cx="9235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F2FF"/>
                </a:solidFill>
              </a:rPr>
              <a:t>Un plan de pruebas fundamentado en SWEBOK y la literatura, integrado al desarrollo desde el primer sprint — y verificable en un sistema real.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E0FF"/>
                </a:solidFill>
              </a:rPr>
              <a:t>Elsa Sequeda  ·  Cristian Guerrero  ·  Brayan Galeano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9377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9C3A3"/>
                </a:solidFill>
              </a:rPr>
              <a:t>¡Gracias!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Pruebas — AgendApp</dc:title>
  <dc:subject>PptxGenJS Presentation</dc:subject>
  <dc:creator>Equipo AgendApp</dc:creator>
  <cp:lastModifiedBy>Equipo AgendApp</cp:lastModifiedBy>
  <cp:revision>1</cp:revision>
  <dcterms:created xsi:type="dcterms:W3CDTF">2026-06-03T04:04:36Z</dcterms:created>
  <dcterms:modified xsi:type="dcterms:W3CDTF">2026-06-03T04:04:36Z</dcterms:modified>
</cp:coreProperties>
</file>